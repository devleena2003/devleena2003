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56" autoAdjust="0"/>
  </p:normalViewPr>
  <p:slideViewPr>
    <p:cSldViewPr snapToGrid="0">
      <p:cViewPr varScale="1">
        <p:scale>
          <a:sx n="82" d="100"/>
          <a:sy n="82" d="100"/>
        </p:scale>
        <p:origin x="72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1013124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584654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1515064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44A5DE-000B-4C48-A4C7-F152F3D57374}"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1870465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44A5DE-000B-4C48-A4C7-F152F3D57374}" type="datetimeFigureOut">
              <a:rPr lang="en-IN" smtClean="0"/>
              <a:t>12-01-2022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79398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44A5DE-000B-4C48-A4C7-F152F3D57374}" type="datetimeFigureOut">
              <a:rPr lang="en-IN" smtClean="0"/>
              <a:t>12-01-2022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2460176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44A5DE-000B-4C48-A4C7-F152F3D57374}" type="datetimeFigureOut">
              <a:rPr lang="en-IN" smtClean="0"/>
              <a:t>12-01-2022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3421641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44A5DE-000B-4C48-A4C7-F152F3D57374}"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338215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44A5DE-000B-4C48-A4C7-F152F3D57374}"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1745340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44A5DE-000B-4C48-A4C7-F152F3D57374}"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3081111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2351749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2845352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1148394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F44A5DE-000B-4C48-A4C7-F152F3D57374}" type="datetimeFigureOut">
              <a:rPr lang="en-IN" smtClean="0"/>
              <a:t>12-01-2022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3920993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F44A5DE-000B-4C48-A4C7-F152F3D57374}" type="datetimeFigureOut">
              <a:rPr lang="en-IN" smtClean="0"/>
              <a:t>12-01-2022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26940516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3986262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F44A5DE-000B-4C48-A4C7-F152F3D57374}"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D8ABDF3-2A96-4659-8468-618E24AD0025}" type="slidenum">
              <a:rPr lang="en-IN" smtClean="0"/>
              <a:t>‹#›</a:t>
            </a:fld>
            <a:endParaRPr lang="en-IN"/>
          </a:p>
        </p:txBody>
      </p:sp>
    </p:spTree>
    <p:extLst>
      <p:ext uri="{BB962C8B-B14F-4D97-AF65-F5344CB8AC3E}">
        <p14:creationId xmlns:p14="http://schemas.microsoft.com/office/powerpoint/2010/main" val="393458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F44A5DE-000B-4C48-A4C7-F152F3D57374}" type="datetimeFigureOut">
              <a:rPr lang="en-IN" smtClean="0"/>
              <a:t>12-01-2022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D8ABDF3-2A96-4659-8468-618E24AD0025}" type="slidenum">
              <a:rPr lang="en-IN" smtClean="0"/>
              <a:t>‹#›</a:t>
            </a:fld>
            <a:endParaRPr lang="en-IN"/>
          </a:p>
        </p:txBody>
      </p:sp>
    </p:spTree>
    <p:extLst>
      <p:ext uri="{BB962C8B-B14F-4D97-AF65-F5344CB8AC3E}">
        <p14:creationId xmlns:p14="http://schemas.microsoft.com/office/powerpoint/2010/main" val="362969910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Kurseong" TargetMode="External"/><Relationship Id="rId13" Type="http://schemas.openxmlformats.org/officeDocument/2006/relationships/hyperlink" Target="https://en.wikipedia.org/wiki/Tiger_Hill,_Darjeeling#cite_note-5" TargetMode="External"/><Relationship Id="rId18" Type="http://schemas.openxmlformats.org/officeDocument/2006/relationships/hyperlink" Target="https://creativecommons.org/licenses/by-nc-sa/3.0/" TargetMode="External"/><Relationship Id="rId3" Type="http://schemas.openxmlformats.org/officeDocument/2006/relationships/hyperlink" Target="https://en.wikipedia.org/wiki/Alpenglow" TargetMode="External"/><Relationship Id="rId7" Type="http://schemas.openxmlformats.org/officeDocument/2006/relationships/hyperlink" Target="https://en.wikipedia.org/wiki/Tiger_Hill,_Darjeeling#cite_note-4" TargetMode="External"/><Relationship Id="rId12" Type="http://schemas.openxmlformats.org/officeDocument/2006/relationships/hyperlink" Target="https://en.wikipedia.org/wiki/Mechi_River" TargetMode="External"/><Relationship Id="rId17" Type="http://schemas.openxmlformats.org/officeDocument/2006/relationships/hyperlink" Target="http://flickr.com/photos/philcilcain/8416245505" TargetMode="External"/><Relationship Id="rId2" Type="http://schemas.openxmlformats.org/officeDocument/2006/relationships/hyperlink" Target="https://en.wikipedia.org/wiki/Kangchenjunga" TargetMode="External"/><Relationship Id="rId16"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hyperlink" Target="https://en.wikipedia.org/wiki/Tiger_Hill,_Darjeeling#cite_note-3" TargetMode="External"/><Relationship Id="rId11" Type="http://schemas.openxmlformats.org/officeDocument/2006/relationships/hyperlink" Target="https://en.wikipedia.org/wiki/Balason_River" TargetMode="External"/><Relationship Id="rId5" Type="http://schemas.openxmlformats.org/officeDocument/2006/relationships/hyperlink" Target="https://en.wikipedia.org/wiki/Kanchenjunga" TargetMode="External"/><Relationship Id="rId15" Type="http://schemas.openxmlformats.org/officeDocument/2006/relationships/hyperlink" Target="https://en.wikipedia.org/wiki/Tiger_Hill,_Darjeeling#cite_note-6" TargetMode="External"/><Relationship Id="rId10" Type="http://schemas.openxmlformats.org/officeDocument/2006/relationships/hyperlink" Target="https://en.wikipedia.org/wiki/Mahananda_River" TargetMode="External"/><Relationship Id="rId4" Type="http://schemas.openxmlformats.org/officeDocument/2006/relationships/hyperlink" Target="https://en.wikipedia.org/wiki/Mount_Everest" TargetMode="External"/><Relationship Id="rId9" Type="http://schemas.openxmlformats.org/officeDocument/2006/relationships/hyperlink" Target="https://en.wikipedia.org/wiki/Teesta_River" TargetMode="External"/><Relationship Id="rId14" Type="http://schemas.openxmlformats.org/officeDocument/2006/relationships/hyperlink" Target="https://en.wikipedia.org/wiki/Chola_range"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World_peace" TargetMode="External"/><Relationship Id="rId13" Type="http://schemas.openxmlformats.org/officeDocument/2006/relationships/hyperlink" Target="https://creativecommons.org/licenses/by-nc-sa/3.0/" TargetMode="External"/><Relationship Id="rId3" Type="http://schemas.openxmlformats.org/officeDocument/2006/relationships/hyperlink" Target="https://en.wikipedia.org/wiki/Stupa" TargetMode="External"/><Relationship Id="rId7" Type="http://schemas.openxmlformats.org/officeDocument/2006/relationships/hyperlink" Target="https://en.wikipedia.org/wiki/Mahatma_Gandhi" TargetMode="External"/><Relationship Id="rId12" Type="http://schemas.openxmlformats.org/officeDocument/2006/relationships/hyperlink" Target="https://www.flickr.com/photos/kro_royal/4553798301/" TargetMode="External"/><Relationship Id="rId2" Type="http://schemas.openxmlformats.org/officeDocument/2006/relationships/hyperlink" Target="https://en.wikipedia.org/wiki/Buddhism" TargetMode="External"/><Relationship Id="rId1" Type="http://schemas.openxmlformats.org/officeDocument/2006/relationships/slideLayout" Target="../slideLayouts/slideLayout2.xml"/><Relationship Id="rId6" Type="http://schemas.openxmlformats.org/officeDocument/2006/relationships/hyperlink" Target="https://en.wikipedia.org/wiki/Nipponzan-My%C5%8Dh%C5%8Dji" TargetMode="External"/><Relationship Id="rId11" Type="http://schemas.openxmlformats.org/officeDocument/2006/relationships/image" Target="../media/image3.jpg"/><Relationship Id="rId5" Type="http://schemas.openxmlformats.org/officeDocument/2006/relationships/hyperlink" Target="https://en.wikipedia.org/wiki/Japan" TargetMode="External"/><Relationship Id="rId10" Type="http://schemas.openxmlformats.org/officeDocument/2006/relationships/hyperlink" Target="https://en.wikipedia.org/wiki/Kumamoto" TargetMode="External"/><Relationship Id="rId4" Type="http://schemas.openxmlformats.org/officeDocument/2006/relationships/hyperlink" Target="https://en.wikipedia.org/wiki/Nichidatsu_Fujii" TargetMode="External"/><Relationship Id="rId9" Type="http://schemas.openxmlformats.org/officeDocument/2006/relationships/hyperlink" Target="https://en.wikipedia.org/wiki/Peace_Pagoda#cite_note-fujisan-1"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Happy_Valley_Tea_Estate#cite_note-6" TargetMode="External"/><Relationship Id="rId7" Type="http://schemas.openxmlformats.org/officeDocument/2006/relationships/hyperlink" Target="https://creativecommons.org/licenses/by/3.0/" TargetMode="External"/><Relationship Id="rId2" Type="http://schemas.openxmlformats.org/officeDocument/2006/relationships/hyperlink" Target="https://en.wikipedia.org/wiki/Darjeeling" TargetMode="External"/><Relationship Id="rId1" Type="http://schemas.openxmlformats.org/officeDocument/2006/relationships/slideLayout" Target="../slideLayouts/slideLayout2.xml"/><Relationship Id="rId6" Type="http://schemas.openxmlformats.org/officeDocument/2006/relationships/hyperlink" Target="https://www.flickr.com/photos/46837182@N00/8717542300" TargetMode="External"/><Relationship Id="rId5" Type="http://schemas.openxmlformats.org/officeDocument/2006/relationships/image" Target="../media/image4.jpg"/><Relationship Id="rId4" Type="http://schemas.openxmlformats.org/officeDocument/2006/relationships/hyperlink" Target="https://en.wikipedia.org/wiki/Happy_Valley_Tea_Estate#cite_note-7"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Gorkhaland_Territorial_Administration" TargetMode="External"/><Relationship Id="rId13" Type="http://schemas.openxmlformats.org/officeDocument/2006/relationships/hyperlink" Target="https://creativecommons.org/licenses/by-nc/3.0/" TargetMode="External"/><Relationship Id="rId3" Type="http://schemas.openxmlformats.org/officeDocument/2006/relationships/hyperlink" Target="https://en.wikipedia.org/wiki/States_and_territories_of_India" TargetMode="External"/><Relationship Id="rId7" Type="http://schemas.openxmlformats.org/officeDocument/2006/relationships/hyperlink" Target="https://en.wikipedia.org/wiki/Kalimpong#cite_note-5" TargetMode="External"/><Relationship Id="rId12" Type="http://schemas.openxmlformats.org/officeDocument/2006/relationships/hyperlink" Target="http://letusgoto.com/2020/07/13/top-10-places-to-explore-for-digital-nomads-in-india/" TargetMode="External"/><Relationship Id="rId2" Type="http://schemas.openxmlformats.org/officeDocument/2006/relationships/hyperlink" Target="https://en.wikipedia.org/wiki/India" TargetMode="External"/><Relationship Id="rId1" Type="http://schemas.openxmlformats.org/officeDocument/2006/relationships/slideLayout" Target="../slideLayouts/slideLayout2.xml"/><Relationship Id="rId6" Type="http://schemas.openxmlformats.org/officeDocument/2006/relationships/hyperlink" Target="https://en.wikipedia.org/wiki/Kalimpong_district" TargetMode="External"/><Relationship Id="rId11" Type="http://schemas.openxmlformats.org/officeDocument/2006/relationships/image" Target="../media/image5.jpg"/><Relationship Id="rId5" Type="http://schemas.openxmlformats.org/officeDocument/2006/relationships/hyperlink" Target="https://en.wikipedia.org/wiki/Kalimpong#cite_note-General_Information-4" TargetMode="External"/><Relationship Id="rId10" Type="http://schemas.openxmlformats.org/officeDocument/2006/relationships/hyperlink" Target="https://en.wikipedia.org/wiki/Kalimpong#cite_note-India_moves_over_6,000_troops_to_border_with_China-6" TargetMode="External"/><Relationship Id="rId4" Type="http://schemas.openxmlformats.org/officeDocument/2006/relationships/hyperlink" Target="https://en.wikipedia.org/wiki/West_Bengal" TargetMode="External"/><Relationship Id="rId9" Type="http://schemas.openxmlformats.org/officeDocument/2006/relationships/hyperlink" Target="https://en.wikipedia.org/wiki/Indian_Army"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Ghum,_West_Bengal#cite_note-Guide-1" TargetMode="External"/><Relationship Id="rId13" Type="http://schemas.openxmlformats.org/officeDocument/2006/relationships/hyperlink" Target="https://creativecommons.org/licenses/by-sa/3.0/" TargetMode="External"/><Relationship Id="rId3" Type="http://schemas.openxmlformats.org/officeDocument/2006/relationships/hyperlink" Target="https://en.wikipedia.org/wiki/Darjeeling_Himalayan_hill_region" TargetMode="External"/><Relationship Id="rId7" Type="http://schemas.openxmlformats.org/officeDocument/2006/relationships/hyperlink" Target="https://en.wikipedia.org/wiki/Darjeeling_Himalayan_Railway" TargetMode="External"/><Relationship Id="rId12" Type="http://schemas.openxmlformats.org/officeDocument/2006/relationships/hyperlink" Target="https://en.wikipedia.org/wiki/Ghum,_West_Bengal" TargetMode="External"/><Relationship Id="rId2" Type="http://schemas.openxmlformats.org/officeDocument/2006/relationships/hyperlink" Target="https://en.wikipedia.org/wiki/Neighbourhood" TargetMode="External"/><Relationship Id="rId1" Type="http://schemas.openxmlformats.org/officeDocument/2006/relationships/slideLayout" Target="../slideLayouts/slideLayout2.xml"/><Relationship Id="rId6" Type="http://schemas.openxmlformats.org/officeDocument/2006/relationships/hyperlink" Target="https://en.wikipedia.org/wiki/Ghum_railway_station" TargetMode="External"/><Relationship Id="rId11" Type="http://schemas.openxmlformats.org/officeDocument/2006/relationships/image" Target="../media/image6.jpg"/><Relationship Id="rId5" Type="http://schemas.openxmlformats.org/officeDocument/2006/relationships/hyperlink" Target="https://en.wikipedia.org/wiki/Darjeeling_Municipality" TargetMode="External"/><Relationship Id="rId10" Type="http://schemas.openxmlformats.org/officeDocument/2006/relationships/hyperlink" Target="https://en.wikipedia.org/wiki/Batasia_Loop" TargetMode="External"/><Relationship Id="rId4" Type="http://schemas.openxmlformats.org/officeDocument/2006/relationships/hyperlink" Target="https://en.wikipedia.org/wiki/West_Bengal" TargetMode="External"/><Relationship Id="rId9" Type="http://schemas.openxmlformats.org/officeDocument/2006/relationships/hyperlink" Target="https://en.wikipedia.org/wiki/Ghum_Monaster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E6BBFF-FD7D-4271-B3A9-706C1E262161}"/>
              </a:ext>
            </a:extLst>
          </p:cNvPr>
          <p:cNvSpPr txBox="1"/>
          <p:nvPr/>
        </p:nvSpPr>
        <p:spPr>
          <a:xfrm>
            <a:off x="2707690" y="1504283"/>
            <a:ext cx="6347534" cy="830997"/>
          </a:xfrm>
          <a:prstGeom prst="rect">
            <a:avLst/>
          </a:prstGeom>
          <a:noFill/>
        </p:spPr>
        <p:txBody>
          <a:bodyPr wrap="square" rtlCol="0">
            <a:spAutoFit/>
          </a:bodyPr>
          <a:lstStyle/>
          <a:p>
            <a:r>
              <a:rPr lang="en-US" sz="4800" dirty="0">
                <a:latin typeface="Bahnschrift Condensed" panose="020B0502040204020203" pitchFamily="34" charset="0"/>
              </a:rPr>
              <a:t>Welcome</a:t>
            </a:r>
            <a:endParaRPr lang="en-IN" sz="4800" dirty="0">
              <a:latin typeface="Bahnschrift Condensed" panose="020B0502040204020203" pitchFamily="34" charset="0"/>
            </a:endParaRPr>
          </a:p>
        </p:txBody>
      </p:sp>
      <p:sp>
        <p:nvSpPr>
          <p:cNvPr id="6" name="TextBox 5">
            <a:extLst>
              <a:ext uri="{FF2B5EF4-FFF2-40B4-BE49-F238E27FC236}">
                <a16:creationId xmlns:a16="http://schemas.microsoft.com/office/drawing/2014/main" id="{D82086A5-92FC-425B-AED0-2947B000A50A}"/>
              </a:ext>
            </a:extLst>
          </p:cNvPr>
          <p:cNvSpPr txBox="1"/>
          <p:nvPr/>
        </p:nvSpPr>
        <p:spPr>
          <a:xfrm>
            <a:off x="4755472" y="2823741"/>
            <a:ext cx="1340528" cy="830997"/>
          </a:xfrm>
          <a:prstGeom prst="rect">
            <a:avLst/>
          </a:prstGeom>
          <a:noFill/>
        </p:spPr>
        <p:txBody>
          <a:bodyPr wrap="square" rtlCol="0">
            <a:spAutoFit/>
          </a:bodyPr>
          <a:lstStyle/>
          <a:p>
            <a:r>
              <a:rPr lang="en-US" sz="4800" dirty="0">
                <a:latin typeface="Bahnschrift Condensed" panose="020B0502040204020203" pitchFamily="34" charset="0"/>
              </a:rPr>
              <a:t>     To</a:t>
            </a:r>
            <a:endParaRPr lang="en-IN" sz="4800" dirty="0">
              <a:latin typeface="Bahnschrift Condensed" panose="020B0502040204020203" pitchFamily="34" charset="0"/>
            </a:endParaRPr>
          </a:p>
        </p:txBody>
      </p:sp>
      <p:sp>
        <p:nvSpPr>
          <p:cNvPr id="7" name="TextBox 6">
            <a:extLst>
              <a:ext uri="{FF2B5EF4-FFF2-40B4-BE49-F238E27FC236}">
                <a16:creationId xmlns:a16="http://schemas.microsoft.com/office/drawing/2014/main" id="{15F0CF7E-8CC2-4E09-BF5D-8C39EAF2E45F}"/>
              </a:ext>
            </a:extLst>
          </p:cNvPr>
          <p:cNvSpPr txBox="1"/>
          <p:nvPr/>
        </p:nvSpPr>
        <p:spPr>
          <a:xfrm>
            <a:off x="6533966" y="3947891"/>
            <a:ext cx="2402889" cy="830997"/>
          </a:xfrm>
          <a:prstGeom prst="rect">
            <a:avLst/>
          </a:prstGeom>
          <a:noFill/>
        </p:spPr>
        <p:txBody>
          <a:bodyPr wrap="square" rtlCol="0">
            <a:spAutoFit/>
          </a:bodyPr>
          <a:lstStyle/>
          <a:p>
            <a:r>
              <a:rPr lang="en-US" sz="4800" dirty="0">
                <a:latin typeface="Bahnschrift Condensed" panose="020B0502040204020203" pitchFamily="34" charset="0"/>
              </a:rPr>
              <a:t>Darjeeling</a:t>
            </a:r>
            <a:endParaRPr lang="en-IN" sz="4800" dirty="0">
              <a:latin typeface="Bahnschrift Condensed" panose="020B0502040204020203" pitchFamily="34" charset="0"/>
            </a:endParaRPr>
          </a:p>
        </p:txBody>
      </p:sp>
    </p:spTree>
    <p:extLst>
      <p:ext uri="{BB962C8B-B14F-4D97-AF65-F5344CB8AC3E}">
        <p14:creationId xmlns:p14="http://schemas.microsoft.com/office/powerpoint/2010/main" val="2466776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02D0-38E4-4A24-9E2E-37BB088E29E9}"/>
              </a:ext>
            </a:extLst>
          </p:cNvPr>
          <p:cNvSpPr>
            <a:spLocks noGrp="1"/>
          </p:cNvSpPr>
          <p:nvPr>
            <p:ph type="title"/>
          </p:nvPr>
        </p:nvSpPr>
        <p:spPr/>
        <p:txBody>
          <a:bodyPr/>
          <a:lstStyle/>
          <a:p>
            <a:r>
              <a:rPr lang="en-US" dirty="0"/>
              <a:t>Top 5 places in Darjeeling</a:t>
            </a:r>
            <a:endParaRPr lang="en-IN" dirty="0"/>
          </a:p>
        </p:txBody>
      </p:sp>
      <p:sp>
        <p:nvSpPr>
          <p:cNvPr id="3" name="Content Placeholder 2">
            <a:extLst>
              <a:ext uri="{FF2B5EF4-FFF2-40B4-BE49-F238E27FC236}">
                <a16:creationId xmlns:a16="http://schemas.microsoft.com/office/drawing/2014/main" id="{1722FD4F-9809-478B-8784-DCD458EFD1C8}"/>
              </a:ext>
            </a:extLst>
          </p:cNvPr>
          <p:cNvSpPr>
            <a:spLocks noGrp="1"/>
          </p:cNvSpPr>
          <p:nvPr>
            <p:ph idx="1"/>
          </p:nvPr>
        </p:nvSpPr>
        <p:spPr>
          <a:xfrm>
            <a:off x="1207363" y="2556769"/>
            <a:ext cx="9689234" cy="3319099"/>
          </a:xfrm>
        </p:spPr>
        <p:txBody>
          <a:bodyPr>
            <a:normAutofit/>
          </a:bodyPr>
          <a:lstStyle/>
          <a:p>
            <a:pPr lvl="6"/>
            <a:r>
              <a:rPr lang="en-US" sz="3200" dirty="0"/>
              <a:t>  Tiger Hill</a:t>
            </a:r>
          </a:p>
          <a:p>
            <a:pPr lvl="6"/>
            <a:r>
              <a:rPr lang="en-US" sz="3200" dirty="0"/>
              <a:t> Peace Pagoda</a:t>
            </a:r>
          </a:p>
          <a:p>
            <a:pPr lvl="6"/>
            <a:r>
              <a:rPr lang="en-US" sz="3200" dirty="0"/>
              <a:t> Happy Valley Tea Estate</a:t>
            </a:r>
          </a:p>
          <a:p>
            <a:pPr lvl="6"/>
            <a:r>
              <a:rPr lang="en-US" sz="3200" dirty="0"/>
              <a:t> </a:t>
            </a:r>
            <a:r>
              <a:rPr lang="en-US" sz="3200" dirty="0" err="1"/>
              <a:t>Kalimpong</a:t>
            </a:r>
            <a:endParaRPr lang="en-US" sz="3200" dirty="0"/>
          </a:p>
          <a:p>
            <a:pPr lvl="6"/>
            <a:r>
              <a:rPr lang="en-US" sz="3200" dirty="0"/>
              <a:t> </a:t>
            </a:r>
            <a:r>
              <a:rPr lang="en-US" sz="3200" dirty="0" err="1"/>
              <a:t>Ghoom</a:t>
            </a:r>
            <a:endParaRPr lang="en-IN" sz="3200" dirty="0"/>
          </a:p>
        </p:txBody>
      </p:sp>
    </p:spTree>
    <p:extLst>
      <p:ext uri="{BB962C8B-B14F-4D97-AF65-F5344CB8AC3E}">
        <p14:creationId xmlns:p14="http://schemas.microsoft.com/office/powerpoint/2010/main" val="863735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58BD-EAD8-4E6C-9C10-C283F5E495F7}"/>
              </a:ext>
            </a:extLst>
          </p:cNvPr>
          <p:cNvSpPr>
            <a:spLocks noGrp="1"/>
          </p:cNvSpPr>
          <p:nvPr>
            <p:ph type="title"/>
          </p:nvPr>
        </p:nvSpPr>
        <p:spPr/>
        <p:txBody>
          <a:bodyPr/>
          <a:lstStyle/>
          <a:p>
            <a:r>
              <a:rPr lang="en-US" dirty="0"/>
              <a:t>                           Tiger Hill</a:t>
            </a:r>
            <a:endParaRPr lang="en-IN" dirty="0"/>
          </a:p>
        </p:txBody>
      </p:sp>
      <p:sp>
        <p:nvSpPr>
          <p:cNvPr id="4" name="Rectangle 1">
            <a:extLst>
              <a:ext uri="{FF2B5EF4-FFF2-40B4-BE49-F238E27FC236}">
                <a16:creationId xmlns:a16="http://schemas.microsoft.com/office/drawing/2014/main" id="{36745499-059E-45C5-9E44-B4835A596A0E}"/>
              </a:ext>
            </a:extLst>
          </p:cNvPr>
          <p:cNvSpPr>
            <a:spLocks noChangeArrowheads="1"/>
          </p:cNvSpPr>
          <p:nvPr/>
        </p:nvSpPr>
        <p:spPr bwMode="auto">
          <a:xfrm>
            <a:off x="0" y="-233065"/>
            <a:ext cx="217239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5" name="Rectangle 3">
            <a:extLst>
              <a:ext uri="{FF2B5EF4-FFF2-40B4-BE49-F238E27FC236}">
                <a16:creationId xmlns:a16="http://schemas.microsoft.com/office/drawing/2014/main" id="{418CB3CB-DE0E-4F0A-9C77-29417483EFFB}"/>
              </a:ext>
            </a:extLst>
          </p:cNvPr>
          <p:cNvSpPr>
            <a:spLocks noChangeArrowheads="1"/>
          </p:cNvSpPr>
          <p:nvPr/>
        </p:nvSpPr>
        <p:spPr bwMode="auto">
          <a:xfrm>
            <a:off x="350522" y="2312065"/>
            <a:ext cx="11545556" cy="3165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At sunrise, the peaks of </a:t>
            </a:r>
            <a:r>
              <a:rPr kumimoji="0" lang="en-US" altLang="en-US" b="0" i="0" u="none" strike="noStrike" cap="none" normalizeH="0" baseline="0" dirty="0">
                <a:ln>
                  <a:noFill/>
                </a:ln>
                <a:solidFill>
                  <a:schemeClr val="tx1"/>
                </a:solidFill>
                <a:effectLst/>
                <a:latin typeface="Arial" panose="020B0604020202020204" pitchFamily="34" charset="0"/>
                <a:hlinkClick r:id="rId2" tooltip="Kangchenjunga"/>
              </a:rPr>
              <a:t>Kanchenjunga</a:t>
            </a:r>
            <a:r>
              <a:rPr kumimoji="0" lang="en-US" altLang="en-US" b="0" i="0" u="none" strike="noStrike" cap="none" normalizeH="0" baseline="0" dirty="0">
                <a:ln>
                  <a:noFill/>
                </a:ln>
                <a:solidFill>
                  <a:schemeClr val="tx1"/>
                </a:solidFill>
                <a:effectLst/>
                <a:latin typeface="Arial" panose="020B0604020202020204" pitchFamily="34" charset="0"/>
              </a:rPr>
              <a:t> are </a:t>
            </a:r>
            <a:r>
              <a:rPr kumimoji="0" lang="en-US" altLang="en-US" b="0" i="0" u="none" strike="noStrike" cap="none" normalizeH="0" baseline="0" dirty="0">
                <a:ln>
                  <a:noFill/>
                </a:ln>
                <a:solidFill>
                  <a:schemeClr val="tx1"/>
                </a:solidFill>
                <a:effectLst/>
                <a:latin typeface="Arial" panose="020B0604020202020204" pitchFamily="34" charset="0"/>
                <a:hlinkClick r:id="rId3" tooltip="Alpenglow"/>
              </a:rPr>
              <a:t>illuminated before the sun is seen at lower elevations</a:t>
            </a:r>
            <a:r>
              <a:rPr kumimoji="0" lang="en-US" altLang="en-US" b="0" i="0" u="none" strike="noStrike" cap="none" normalizeH="0" baseline="0" dirty="0">
                <a:ln>
                  <a:noFill/>
                </a:ln>
                <a:solidFill>
                  <a:schemeClr val="tx1"/>
                </a:solidFill>
                <a:effectLst/>
                <a:latin typeface="Arial" panose="020B0604020202020204" pitchFamily="34" charset="0"/>
              </a:rPr>
              <a:t>. From Tiger Hill, </a:t>
            </a:r>
            <a:r>
              <a:rPr kumimoji="0" lang="en-US" altLang="en-US" b="0" i="0" u="none" strike="noStrike" cap="none" normalizeH="0" baseline="0" dirty="0">
                <a:ln>
                  <a:noFill/>
                </a:ln>
                <a:solidFill>
                  <a:schemeClr val="tx1"/>
                </a:solidFill>
                <a:effectLst/>
                <a:latin typeface="Arial" panose="020B0604020202020204" pitchFamily="34" charset="0"/>
                <a:hlinkClick r:id="rId4" tooltip="Mount Everest"/>
              </a:rPr>
              <a:t>Mount Everest</a:t>
            </a:r>
            <a:r>
              <a:rPr kumimoji="0" lang="en-US" altLang="en-US" b="0" i="0" u="none" strike="noStrike" cap="none" normalizeH="0" baseline="0" dirty="0">
                <a:ln>
                  <a:noFill/>
                </a:ln>
                <a:solidFill>
                  <a:schemeClr val="tx1"/>
                </a:solidFill>
                <a:effectLst/>
                <a:latin typeface="Arial" panose="020B0604020202020204" pitchFamily="34" charset="0"/>
              </a:rPr>
              <a:t> (8848 m) is just visible. </a:t>
            </a:r>
            <a:r>
              <a:rPr kumimoji="0" lang="en-US" altLang="en-US" b="0" i="0" u="none" strike="noStrike" cap="none" normalizeH="0" baseline="0" dirty="0">
                <a:ln>
                  <a:noFill/>
                </a:ln>
                <a:solidFill>
                  <a:schemeClr val="tx1"/>
                </a:solidFill>
                <a:effectLst/>
                <a:latin typeface="Arial" panose="020B0604020202020204" pitchFamily="34" charset="0"/>
                <a:hlinkClick r:id="rId5" tooltip="Kanchenjunga"/>
              </a:rPr>
              <a:t>Kanchenjunga</a:t>
            </a:r>
            <a:r>
              <a:rPr kumimoji="0" lang="en-US" altLang="en-US" b="0" i="0" u="none" strike="noStrike" cap="none" normalizeH="0" baseline="0" dirty="0">
                <a:ln>
                  <a:noFill/>
                </a:ln>
                <a:solidFill>
                  <a:schemeClr val="tx1"/>
                </a:solidFill>
                <a:effectLst/>
                <a:latin typeface="Arial" panose="020B0604020202020204" pitchFamily="34" charset="0"/>
              </a:rPr>
              <a:t> (8598 m) looks higher than Mt. Everest, as it is several miles closer than Everest. The distance in a straight line from Tiger Hill to Everest is 107 miles (172 km).</a:t>
            </a:r>
            <a:r>
              <a:rPr kumimoji="0" lang="en-US" altLang="en-US" b="0" i="0" u="none" strike="noStrike" cap="none" normalizeH="0" baseline="30000" dirty="0">
                <a:ln>
                  <a:noFill/>
                </a:ln>
                <a:solidFill>
                  <a:schemeClr val="tx1"/>
                </a:solidFill>
                <a:effectLst/>
                <a:latin typeface="Arial" panose="020B0604020202020204" pitchFamily="34" charset="0"/>
                <a:hlinkClick r:id="rId6"/>
              </a:rPr>
              <a:t>[3]</a:t>
            </a:r>
            <a:r>
              <a:rPr kumimoji="0" lang="en-US" altLang="en-US" b="0" i="0" u="none" strike="noStrike" cap="none" normalizeH="0" baseline="30000" dirty="0">
                <a:ln>
                  <a:noFill/>
                </a:ln>
                <a:solidFill>
                  <a:schemeClr val="tx1"/>
                </a:solidFill>
                <a:effectLst/>
                <a:latin typeface="Arial" panose="020B0604020202020204" pitchFamily="34" charset="0"/>
                <a:hlinkClick r:id="rId7"/>
              </a:rPr>
              <a:t>[4]</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On a clear day, </a:t>
            </a:r>
            <a:r>
              <a:rPr kumimoji="0" lang="en-US" altLang="en-US" b="0" i="0" u="none" strike="noStrike" cap="none" normalizeH="0" baseline="0" dirty="0" err="1">
                <a:ln>
                  <a:noFill/>
                </a:ln>
                <a:solidFill>
                  <a:schemeClr val="tx1"/>
                </a:solidFill>
                <a:effectLst/>
                <a:latin typeface="Arial" panose="020B0604020202020204" pitchFamily="34" charset="0"/>
                <a:hlinkClick r:id="rId8" tooltip="Kurseong"/>
              </a:rPr>
              <a:t>Kurseong</a:t>
            </a:r>
            <a:r>
              <a:rPr kumimoji="0" lang="en-US" altLang="en-US" b="0" i="0" u="none" strike="noStrike" cap="none" normalizeH="0" baseline="0" dirty="0">
                <a:ln>
                  <a:noFill/>
                </a:ln>
                <a:solidFill>
                  <a:schemeClr val="tx1"/>
                </a:solidFill>
                <a:effectLst/>
                <a:latin typeface="Arial" panose="020B0604020202020204" pitchFamily="34" charset="0"/>
              </a:rPr>
              <a:t> is visible to the south and in the distance, along with </a:t>
            </a:r>
            <a:r>
              <a:rPr kumimoji="0" lang="en-US" altLang="en-US" b="0" i="0" u="none" strike="noStrike" cap="none" normalizeH="0" baseline="0" dirty="0">
                <a:ln>
                  <a:noFill/>
                </a:ln>
                <a:solidFill>
                  <a:schemeClr val="tx1"/>
                </a:solidFill>
                <a:effectLst/>
                <a:latin typeface="Arial" panose="020B0604020202020204" pitchFamily="34" charset="0"/>
                <a:hlinkClick r:id="rId9" tooltip="Teesta River"/>
              </a:rPr>
              <a:t>Teesta River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hlinkClick r:id="rId10" tooltip="Mahananda River"/>
              </a:rPr>
              <a:t>Mahananda River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hlinkClick r:id="rId11" tooltip="Balason River"/>
              </a:rPr>
              <a:t>Balason</a:t>
            </a:r>
            <a:r>
              <a:rPr kumimoji="0" lang="en-US" altLang="en-US" b="0" i="0" u="none" strike="noStrike" cap="none" normalizeH="0" baseline="0" dirty="0">
                <a:ln>
                  <a:noFill/>
                </a:ln>
                <a:solidFill>
                  <a:schemeClr val="tx1"/>
                </a:solidFill>
                <a:effectLst/>
                <a:latin typeface="Arial" panose="020B0604020202020204" pitchFamily="34" charset="0"/>
                <a:hlinkClick r:id="rId11" tooltip="Balason River"/>
              </a:rPr>
              <a:t> River</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0" i="0" u="none" strike="noStrike" cap="none" normalizeH="0" baseline="0" dirty="0" err="1">
                <a:ln>
                  <a:noFill/>
                </a:ln>
                <a:solidFill>
                  <a:schemeClr val="tx1"/>
                </a:solidFill>
                <a:effectLst/>
                <a:latin typeface="Arial" panose="020B0604020202020204" pitchFamily="34" charset="0"/>
                <a:hlinkClick r:id="rId12" tooltip="Mechi River"/>
              </a:rPr>
              <a:t>Mechi</a:t>
            </a:r>
            <a:r>
              <a:rPr kumimoji="0" lang="en-US" altLang="en-US" b="0" i="0" u="none" strike="noStrike" cap="none" normalizeH="0" baseline="0" dirty="0">
                <a:ln>
                  <a:noFill/>
                </a:ln>
                <a:solidFill>
                  <a:schemeClr val="tx1"/>
                </a:solidFill>
                <a:effectLst/>
                <a:latin typeface="Arial" panose="020B0604020202020204" pitchFamily="34" charset="0"/>
                <a:hlinkClick r:id="rId12" tooltip="Mechi River"/>
              </a:rPr>
              <a:t> River</a:t>
            </a:r>
            <a:r>
              <a:rPr kumimoji="0" lang="en-US" altLang="en-US" b="0" i="0" u="none" strike="noStrike" cap="none" normalizeH="0" baseline="0" dirty="0">
                <a:ln>
                  <a:noFill/>
                </a:ln>
                <a:solidFill>
                  <a:schemeClr val="tx1"/>
                </a:solidFill>
                <a:effectLst/>
                <a:latin typeface="Arial" panose="020B0604020202020204" pitchFamily="34" charset="0"/>
              </a:rPr>
              <a:t> meandering down to the south.</a:t>
            </a:r>
            <a:r>
              <a:rPr kumimoji="0" lang="en-US" altLang="en-US" b="0" i="0" u="none" strike="noStrike" cap="none" normalizeH="0" baseline="30000" dirty="0">
                <a:ln>
                  <a:noFill/>
                </a:ln>
                <a:solidFill>
                  <a:schemeClr val="tx1"/>
                </a:solidFill>
                <a:effectLst/>
                <a:latin typeface="Arial" panose="020B0604020202020204" pitchFamily="34" charset="0"/>
                <a:hlinkClick r:id="rId13"/>
              </a:rPr>
              <a:t>[5]</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Chumal</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Rhi</a:t>
            </a:r>
            <a:r>
              <a:rPr kumimoji="0" lang="en-US" altLang="en-US" b="0" i="0" u="none" strike="noStrike" cap="none" normalizeH="0" baseline="0" dirty="0">
                <a:ln>
                  <a:noFill/>
                </a:ln>
                <a:solidFill>
                  <a:schemeClr val="tx1"/>
                </a:solidFill>
                <a:effectLst/>
                <a:latin typeface="Arial" panose="020B0604020202020204" pitchFamily="34" charset="0"/>
              </a:rPr>
              <a:t> mountain of Tibet, 84 miles (135 km) away, is visible over the </a:t>
            </a:r>
            <a:r>
              <a:rPr kumimoji="0" lang="en-US" altLang="en-US" b="0" i="0" u="none" strike="noStrike" cap="none" normalizeH="0" baseline="0" dirty="0">
                <a:ln>
                  <a:noFill/>
                </a:ln>
                <a:solidFill>
                  <a:schemeClr val="tx1"/>
                </a:solidFill>
                <a:effectLst/>
                <a:latin typeface="Arial" panose="020B0604020202020204" pitchFamily="34" charset="0"/>
                <a:hlinkClick r:id="rId14" tooltip="Chola range"/>
              </a:rPr>
              <a:t>Chola range</a:t>
            </a:r>
            <a:r>
              <a:rPr kumimoji="0" lang="en-US" altLang="en-US" b="0" i="0" u="none" strike="noStrike" cap="none" normalizeH="0" baseline="0" dirty="0">
                <a:ln>
                  <a:noFill/>
                </a:ln>
                <a:solidFill>
                  <a:schemeClr val="tx1"/>
                </a:solidFill>
                <a:effectLst/>
                <a:latin typeface="Arial" panose="020B0604020202020204" pitchFamily="34" charset="0"/>
              </a:rPr>
              <a:t>.</a:t>
            </a:r>
            <a:r>
              <a:rPr kumimoji="0" lang="en-US" altLang="en-US" b="0" i="0" u="none" strike="noStrike" cap="none" normalizeH="0" baseline="30000" dirty="0">
                <a:ln>
                  <a:noFill/>
                </a:ln>
                <a:solidFill>
                  <a:schemeClr val="tx1"/>
                </a:solidFill>
                <a:effectLst/>
                <a:latin typeface="Arial" panose="020B0604020202020204" pitchFamily="34" charset="0"/>
                <a:hlinkClick r:id="rId15"/>
              </a:rPr>
              <a:t>[6]</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sunrise at Tiger Hill is an impressive experience.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54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1" name="Content Placeholder 10">
            <a:extLst>
              <a:ext uri="{FF2B5EF4-FFF2-40B4-BE49-F238E27FC236}">
                <a16:creationId xmlns:a16="http://schemas.microsoft.com/office/drawing/2014/main" id="{EF41CD93-8903-4716-996A-61C6FD6EC016}"/>
              </a:ext>
            </a:extLst>
          </p:cNvPr>
          <p:cNvPicPr>
            <a:picLocks noGrp="1" noChangeAspect="1"/>
          </p:cNvPicPr>
          <p:nvPr>
            <p:ph idx="1"/>
          </p:nvPr>
        </p:nvPicPr>
        <p:blipFill>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tretch>
            <a:fillRect/>
          </a:stretch>
        </p:blipFill>
        <p:spPr>
          <a:xfrm>
            <a:off x="425356" y="4768672"/>
            <a:ext cx="11416121" cy="2016030"/>
          </a:xfrm>
        </p:spPr>
      </p:pic>
      <p:sp>
        <p:nvSpPr>
          <p:cNvPr id="12" name="TextBox 11">
            <a:extLst>
              <a:ext uri="{FF2B5EF4-FFF2-40B4-BE49-F238E27FC236}">
                <a16:creationId xmlns:a16="http://schemas.microsoft.com/office/drawing/2014/main" id="{FEA551AF-EEE1-4E18-8F55-5DD753F6D45A}"/>
              </a:ext>
            </a:extLst>
          </p:cNvPr>
          <p:cNvSpPr txBox="1"/>
          <p:nvPr/>
        </p:nvSpPr>
        <p:spPr>
          <a:xfrm>
            <a:off x="691688" y="6028819"/>
            <a:ext cx="5702218" cy="230832"/>
          </a:xfrm>
          <a:prstGeom prst="rect">
            <a:avLst/>
          </a:prstGeom>
          <a:noFill/>
        </p:spPr>
        <p:txBody>
          <a:bodyPr wrap="square" rtlCol="0">
            <a:spAutoFit/>
          </a:bodyPr>
          <a:lstStyle/>
          <a:p>
            <a:r>
              <a:rPr lang="en-IN" sz="900">
                <a:hlinkClick r:id="rId17" tooltip="http://flickr.com/photos/philcilcain/8416245505"/>
              </a:rPr>
              <a:t>This Photo</a:t>
            </a:r>
            <a:r>
              <a:rPr lang="en-IN" sz="900"/>
              <a:t> by Unknown Author is licensed under </a:t>
            </a:r>
            <a:r>
              <a:rPr lang="en-IN" sz="900">
                <a:hlinkClick r:id="rId18" tooltip="https://creativecommons.org/licenses/by-nc-sa/3.0/"/>
              </a:rPr>
              <a:t>CC BY-SA-NC</a:t>
            </a:r>
            <a:endParaRPr lang="en-IN" sz="900"/>
          </a:p>
        </p:txBody>
      </p:sp>
    </p:spTree>
    <p:extLst>
      <p:ext uri="{BB962C8B-B14F-4D97-AF65-F5344CB8AC3E}">
        <p14:creationId xmlns:p14="http://schemas.microsoft.com/office/powerpoint/2010/main" val="266237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F6F47-1D94-4BB3-A2E6-A76D4385B9A0}"/>
              </a:ext>
            </a:extLst>
          </p:cNvPr>
          <p:cNvSpPr>
            <a:spLocks noGrp="1"/>
          </p:cNvSpPr>
          <p:nvPr>
            <p:ph type="title"/>
          </p:nvPr>
        </p:nvSpPr>
        <p:spPr/>
        <p:txBody>
          <a:bodyPr/>
          <a:lstStyle/>
          <a:p>
            <a:r>
              <a:rPr lang="en-US" dirty="0"/>
              <a:t>                     Peace Pagoda</a:t>
            </a:r>
            <a:endParaRPr lang="en-IN" dirty="0"/>
          </a:p>
        </p:txBody>
      </p:sp>
      <p:sp>
        <p:nvSpPr>
          <p:cNvPr id="3" name="Content Placeholder 2">
            <a:extLst>
              <a:ext uri="{FF2B5EF4-FFF2-40B4-BE49-F238E27FC236}">
                <a16:creationId xmlns:a16="http://schemas.microsoft.com/office/drawing/2014/main" id="{B45C5601-D716-4299-97EF-B0736A77B304}"/>
              </a:ext>
            </a:extLst>
          </p:cNvPr>
          <p:cNvSpPr>
            <a:spLocks noGrp="1"/>
          </p:cNvSpPr>
          <p:nvPr>
            <p:ph idx="1"/>
          </p:nvPr>
        </p:nvSpPr>
        <p:spPr>
          <a:xfrm>
            <a:off x="1317968" y="2603500"/>
            <a:ext cx="8825659" cy="3416300"/>
          </a:xfrm>
        </p:spPr>
        <p:txBody>
          <a:bodyPr/>
          <a:lstStyle/>
          <a:p>
            <a:endParaRPr lang="en-US" dirty="0"/>
          </a:p>
          <a:p>
            <a:endParaRPr lang="en-US" dirty="0"/>
          </a:p>
          <a:p>
            <a:endParaRPr lang="en-IN" dirty="0"/>
          </a:p>
        </p:txBody>
      </p:sp>
      <p:sp>
        <p:nvSpPr>
          <p:cNvPr id="5" name="TextBox 4">
            <a:extLst>
              <a:ext uri="{FF2B5EF4-FFF2-40B4-BE49-F238E27FC236}">
                <a16:creationId xmlns:a16="http://schemas.microsoft.com/office/drawing/2014/main" id="{6F4E10CD-64DC-4BF2-80F2-A93F3E84F1E3}"/>
              </a:ext>
            </a:extLst>
          </p:cNvPr>
          <p:cNvSpPr txBox="1"/>
          <p:nvPr/>
        </p:nvSpPr>
        <p:spPr>
          <a:xfrm>
            <a:off x="397222" y="2310805"/>
            <a:ext cx="11397556" cy="2031325"/>
          </a:xfrm>
          <a:prstGeom prst="rect">
            <a:avLst/>
          </a:prstGeom>
          <a:noFill/>
        </p:spPr>
        <p:txBody>
          <a:bodyPr wrap="square">
            <a:spAutoFit/>
          </a:bodyPr>
          <a:lstStyle/>
          <a:p>
            <a:r>
              <a:rPr lang="en-US" dirty="0"/>
              <a:t>A </a:t>
            </a:r>
            <a:r>
              <a:rPr lang="en-US" b="1" dirty="0"/>
              <a:t>Peace Pagoda</a:t>
            </a:r>
            <a:r>
              <a:rPr lang="en-US" dirty="0"/>
              <a:t> is a </a:t>
            </a:r>
            <a:r>
              <a:rPr lang="en-US" dirty="0">
                <a:hlinkClick r:id="rId2" tooltip="Buddhism"/>
              </a:rPr>
              <a:t>Buddhist</a:t>
            </a:r>
            <a:r>
              <a:rPr lang="en-US" dirty="0"/>
              <a:t> </a:t>
            </a:r>
            <a:r>
              <a:rPr lang="en-US" dirty="0">
                <a:hlinkClick r:id="rId3" tooltip="Stupa"/>
              </a:rPr>
              <a:t>stupa</a:t>
            </a:r>
            <a:r>
              <a:rPr lang="en-US" dirty="0"/>
              <a:t>; a monument to inspire peace, designed to provide a focus for people of all races and creeds, and to help unite them in their search for world peace. Most (though not all) peace pagodas built since World War II have been built under the guidance of </a:t>
            </a:r>
            <a:r>
              <a:rPr lang="en-US" dirty="0" err="1">
                <a:hlinkClick r:id="rId4" tooltip="Nichidatsu Fujii"/>
              </a:rPr>
              <a:t>Nichidatsu</a:t>
            </a:r>
            <a:r>
              <a:rPr lang="en-US" dirty="0">
                <a:hlinkClick r:id="rId4" tooltip="Nichidatsu Fujii"/>
              </a:rPr>
              <a:t> </a:t>
            </a:r>
            <a:r>
              <a:rPr lang="en-US" dirty="0" err="1">
                <a:hlinkClick r:id="rId4" tooltip="Nichidatsu Fujii"/>
              </a:rPr>
              <a:t>Fujii</a:t>
            </a:r>
            <a:r>
              <a:rPr lang="en-US" dirty="0"/>
              <a:t> (1885–1985), a Buddhist monk from </a:t>
            </a:r>
            <a:r>
              <a:rPr lang="en-US" dirty="0">
                <a:hlinkClick r:id="rId5" tooltip="Japan"/>
              </a:rPr>
              <a:t>Japan</a:t>
            </a:r>
            <a:r>
              <a:rPr lang="en-US" dirty="0"/>
              <a:t> and founder of the </a:t>
            </a:r>
            <a:r>
              <a:rPr lang="en-US" dirty="0" err="1">
                <a:hlinkClick r:id="rId6" tooltip="Nipponzan-Myōhōji"/>
              </a:rPr>
              <a:t>Nipponzan-Myōhōji</a:t>
            </a:r>
            <a:r>
              <a:rPr lang="en-US" dirty="0"/>
              <a:t> Buddhist Order. </a:t>
            </a:r>
            <a:r>
              <a:rPr lang="en-US" dirty="0" err="1"/>
              <a:t>Fujii</a:t>
            </a:r>
            <a:r>
              <a:rPr lang="en-US" dirty="0"/>
              <a:t> was greatly inspired by his meeting with </a:t>
            </a:r>
            <a:r>
              <a:rPr lang="en-US" dirty="0">
                <a:hlinkClick r:id="rId7" tooltip="Mahatma Gandhi"/>
              </a:rPr>
              <a:t>Mahatma Gandhi</a:t>
            </a:r>
            <a:r>
              <a:rPr lang="en-US" dirty="0"/>
              <a:t> in 1931 and decided to devote his life to promoting non-violence. In 1947, he began constructing Peace Pagodas as shrines to </a:t>
            </a:r>
            <a:r>
              <a:rPr lang="en-US" dirty="0">
                <a:hlinkClick r:id="rId8" tooltip="World peace"/>
              </a:rPr>
              <a:t>world peace</a:t>
            </a:r>
            <a:r>
              <a:rPr lang="en-US" dirty="0"/>
              <a:t>.</a:t>
            </a:r>
            <a:r>
              <a:rPr lang="en-US" baseline="30000" dirty="0">
                <a:hlinkClick r:id="rId9"/>
              </a:rPr>
              <a:t>[1]</a:t>
            </a:r>
            <a:r>
              <a:rPr lang="en-US" dirty="0"/>
              <a:t> The first was inaugurated at </a:t>
            </a:r>
            <a:r>
              <a:rPr lang="en-US" dirty="0">
                <a:hlinkClick r:id="rId10" tooltip="Kumamoto"/>
              </a:rPr>
              <a:t>Kumamoto</a:t>
            </a:r>
            <a:r>
              <a:rPr lang="en-US" dirty="0"/>
              <a:t> in 1954.</a:t>
            </a:r>
            <a:endParaRPr lang="en-IN" dirty="0"/>
          </a:p>
        </p:txBody>
      </p:sp>
      <p:pic>
        <p:nvPicPr>
          <p:cNvPr id="7" name="Picture 6">
            <a:extLst>
              <a:ext uri="{FF2B5EF4-FFF2-40B4-BE49-F238E27FC236}">
                <a16:creationId xmlns:a16="http://schemas.microsoft.com/office/drawing/2014/main" id="{2ADD9883-1482-4EBC-B36A-AAE69E8412D9}"/>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3383147" y="4342130"/>
            <a:ext cx="5009965" cy="2347919"/>
          </a:xfrm>
          <a:prstGeom prst="rect">
            <a:avLst/>
          </a:prstGeom>
        </p:spPr>
      </p:pic>
      <p:sp>
        <p:nvSpPr>
          <p:cNvPr id="8" name="TextBox 7">
            <a:extLst>
              <a:ext uri="{FF2B5EF4-FFF2-40B4-BE49-F238E27FC236}">
                <a16:creationId xmlns:a16="http://schemas.microsoft.com/office/drawing/2014/main" id="{B1BD6132-D64D-4ECE-9A42-79AD6566D80B}"/>
              </a:ext>
            </a:extLst>
          </p:cNvPr>
          <p:cNvSpPr txBox="1"/>
          <p:nvPr/>
        </p:nvSpPr>
        <p:spPr>
          <a:xfrm>
            <a:off x="3672396" y="7697470"/>
            <a:ext cx="3980155" cy="230832"/>
          </a:xfrm>
          <a:prstGeom prst="rect">
            <a:avLst/>
          </a:prstGeom>
          <a:noFill/>
        </p:spPr>
        <p:txBody>
          <a:bodyPr wrap="square" rtlCol="0">
            <a:spAutoFit/>
          </a:bodyPr>
          <a:lstStyle/>
          <a:p>
            <a:r>
              <a:rPr lang="en-IN" sz="900">
                <a:hlinkClick r:id="rId12" tooltip="https://www.flickr.com/photos/kro_royal/4553798301/"/>
              </a:rPr>
              <a:t>This Photo</a:t>
            </a:r>
            <a:r>
              <a:rPr lang="en-IN" sz="900"/>
              <a:t> by Unknown Author is licensed under </a:t>
            </a:r>
            <a:r>
              <a:rPr lang="en-IN" sz="900">
                <a:hlinkClick r:id="rId13" tooltip="https://creativecommons.org/licenses/by-nc-sa/3.0/"/>
              </a:rPr>
              <a:t>CC BY-SA-NC</a:t>
            </a:r>
            <a:endParaRPr lang="en-IN" sz="900"/>
          </a:p>
        </p:txBody>
      </p:sp>
    </p:spTree>
    <p:extLst>
      <p:ext uri="{BB962C8B-B14F-4D97-AF65-F5344CB8AC3E}">
        <p14:creationId xmlns:p14="http://schemas.microsoft.com/office/powerpoint/2010/main" val="1109285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C250F-FFC6-44BD-BCE4-BE1635D851F4}"/>
              </a:ext>
            </a:extLst>
          </p:cNvPr>
          <p:cNvSpPr>
            <a:spLocks noGrp="1"/>
          </p:cNvSpPr>
          <p:nvPr>
            <p:ph type="title"/>
          </p:nvPr>
        </p:nvSpPr>
        <p:spPr/>
        <p:txBody>
          <a:bodyPr/>
          <a:lstStyle/>
          <a:p>
            <a:r>
              <a:rPr lang="en-US" dirty="0"/>
              <a:t>             Happy Valley Tea Estate</a:t>
            </a:r>
            <a:endParaRPr lang="en-IN" dirty="0"/>
          </a:p>
        </p:txBody>
      </p:sp>
      <p:sp>
        <p:nvSpPr>
          <p:cNvPr id="3" name="Content Placeholder 2">
            <a:extLst>
              <a:ext uri="{FF2B5EF4-FFF2-40B4-BE49-F238E27FC236}">
                <a16:creationId xmlns:a16="http://schemas.microsoft.com/office/drawing/2014/main" id="{7E08BA54-8A63-45DE-85A0-8234890D4EDB}"/>
              </a:ext>
            </a:extLst>
          </p:cNvPr>
          <p:cNvSpPr>
            <a:spLocks noGrp="1"/>
          </p:cNvSpPr>
          <p:nvPr>
            <p:ph idx="1"/>
          </p:nvPr>
        </p:nvSpPr>
        <p:spPr>
          <a:xfrm>
            <a:off x="417301" y="2360904"/>
            <a:ext cx="11357397" cy="3280832"/>
          </a:xfrm>
        </p:spPr>
        <p:txBody>
          <a:bodyPr/>
          <a:lstStyle/>
          <a:p>
            <a:pPr marL="0" indent="0">
              <a:buNone/>
            </a:pPr>
            <a:r>
              <a:rPr lang="en-US" dirty="0"/>
              <a:t>The tea estate is spread over 177 hectares (440 acres), at a height of 2,100 </a:t>
            </a:r>
            <a:r>
              <a:rPr lang="en-US" dirty="0" err="1"/>
              <a:t>metres</a:t>
            </a:r>
            <a:r>
              <a:rPr lang="en-US" dirty="0"/>
              <a:t> (6,900 ft). The bushes in the garden are very old — the minimum age is 80 years, and some are 150 years old. Very little re-plantation has been done in the recent past. Situated around 3 km north of town, below Hill Cart Road, accessible via </a:t>
            </a:r>
            <a:r>
              <a:rPr lang="en-US" dirty="0" err="1"/>
              <a:t>Lochnager</a:t>
            </a:r>
            <a:r>
              <a:rPr lang="en-US" dirty="0"/>
              <a:t> Road from Chowk Bazaar, this tea estate is the closest tea estate to </a:t>
            </a:r>
            <a:r>
              <a:rPr lang="en-US" dirty="0">
                <a:hlinkClick r:id="rId2" tooltip="Darjeeling"/>
              </a:rPr>
              <a:t>Darjeeling</a:t>
            </a:r>
            <a:r>
              <a:rPr lang="en-US" dirty="0"/>
              <a:t> town, and tourists often visit the garden. The months of March to May are the busiest time here. when plucking and processing are in progress. It is open Tuesday to Saturday from 8 a.m. to 4:30 p.m.</a:t>
            </a:r>
            <a:r>
              <a:rPr lang="en-US" baseline="30000" dirty="0">
                <a:hlinkClick r:id="rId3"/>
              </a:rPr>
              <a:t>[6]</a:t>
            </a:r>
            <a:r>
              <a:rPr lang="en-US" baseline="30000" dirty="0">
                <a:hlinkClick r:id="rId4"/>
              </a:rPr>
              <a:t>[7]</a:t>
            </a:r>
            <a:endParaRPr lang="en-IN" dirty="0"/>
          </a:p>
        </p:txBody>
      </p:sp>
      <p:pic>
        <p:nvPicPr>
          <p:cNvPr id="5" name="Picture 4">
            <a:extLst>
              <a:ext uri="{FF2B5EF4-FFF2-40B4-BE49-F238E27FC236}">
                <a16:creationId xmlns:a16="http://schemas.microsoft.com/office/drawing/2014/main" id="{F0FA3FB3-47C7-46E1-9647-6CEB159ED238}"/>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219200" y="4432041"/>
            <a:ext cx="9753600" cy="2225933"/>
          </a:xfrm>
          <a:prstGeom prst="rect">
            <a:avLst/>
          </a:prstGeom>
        </p:spPr>
      </p:pic>
      <p:sp>
        <p:nvSpPr>
          <p:cNvPr id="6" name="TextBox 5">
            <a:extLst>
              <a:ext uri="{FF2B5EF4-FFF2-40B4-BE49-F238E27FC236}">
                <a16:creationId xmlns:a16="http://schemas.microsoft.com/office/drawing/2014/main" id="{E509E1CA-84DD-42C2-8D4D-625B1C7D9DC7}"/>
              </a:ext>
            </a:extLst>
          </p:cNvPr>
          <p:cNvSpPr txBox="1"/>
          <p:nvPr/>
        </p:nvSpPr>
        <p:spPr>
          <a:xfrm>
            <a:off x="1219200" y="6657975"/>
            <a:ext cx="9753600" cy="230832"/>
          </a:xfrm>
          <a:prstGeom prst="rect">
            <a:avLst/>
          </a:prstGeom>
          <a:noFill/>
        </p:spPr>
        <p:txBody>
          <a:bodyPr wrap="square" rtlCol="0">
            <a:spAutoFit/>
          </a:bodyPr>
          <a:lstStyle/>
          <a:p>
            <a:r>
              <a:rPr lang="en-IN" sz="900">
                <a:hlinkClick r:id="rId6" tooltip="https://www.flickr.com/photos/46837182@N00/8717542300"/>
              </a:rPr>
              <a:t>This Photo</a:t>
            </a:r>
            <a:r>
              <a:rPr lang="en-IN" sz="900"/>
              <a:t> by Unknown Author is licensed under </a:t>
            </a:r>
            <a:r>
              <a:rPr lang="en-IN" sz="900">
                <a:hlinkClick r:id="rId7" tooltip="https://creativecommons.org/licenses/by/3.0/"/>
              </a:rPr>
              <a:t>CC BY</a:t>
            </a:r>
            <a:endParaRPr lang="en-IN" sz="900"/>
          </a:p>
        </p:txBody>
      </p:sp>
    </p:spTree>
    <p:extLst>
      <p:ext uri="{BB962C8B-B14F-4D97-AF65-F5344CB8AC3E}">
        <p14:creationId xmlns:p14="http://schemas.microsoft.com/office/powerpoint/2010/main" val="3905538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9CC5F-C054-48FB-8C9A-4D9ECFCF9F55}"/>
              </a:ext>
            </a:extLst>
          </p:cNvPr>
          <p:cNvSpPr>
            <a:spLocks noGrp="1"/>
          </p:cNvSpPr>
          <p:nvPr>
            <p:ph type="title"/>
          </p:nvPr>
        </p:nvSpPr>
        <p:spPr/>
        <p:txBody>
          <a:bodyPr/>
          <a:lstStyle/>
          <a:p>
            <a:r>
              <a:rPr lang="en-US" dirty="0"/>
              <a:t>                        </a:t>
            </a:r>
            <a:r>
              <a:rPr lang="en-US" dirty="0" err="1"/>
              <a:t>Kalimpong</a:t>
            </a:r>
            <a:endParaRPr lang="en-IN" dirty="0"/>
          </a:p>
        </p:txBody>
      </p:sp>
      <p:sp>
        <p:nvSpPr>
          <p:cNvPr id="3" name="Content Placeholder 2">
            <a:extLst>
              <a:ext uri="{FF2B5EF4-FFF2-40B4-BE49-F238E27FC236}">
                <a16:creationId xmlns:a16="http://schemas.microsoft.com/office/drawing/2014/main" id="{AC15A1DF-6441-4C8F-A0AF-5F2C8425DCF3}"/>
              </a:ext>
            </a:extLst>
          </p:cNvPr>
          <p:cNvSpPr>
            <a:spLocks noGrp="1"/>
          </p:cNvSpPr>
          <p:nvPr>
            <p:ph idx="1"/>
          </p:nvPr>
        </p:nvSpPr>
        <p:spPr/>
        <p:txBody>
          <a:bodyPr>
            <a:normAutofit/>
          </a:bodyPr>
          <a:lstStyle/>
          <a:p>
            <a:r>
              <a:rPr lang="en-US" b="1" dirty="0" err="1"/>
              <a:t>Kalimpong</a:t>
            </a:r>
            <a:r>
              <a:rPr lang="en-US" dirty="0"/>
              <a:t> is a town and a municipality in the </a:t>
            </a:r>
            <a:r>
              <a:rPr lang="en-US" dirty="0">
                <a:hlinkClick r:id="rId2" tooltip="India"/>
              </a:rPr>
              <a:t>Indian</a:t>
            </a:r>
            <a:r>
              <a:rPr lang="en-US" dirty="0"/>
              <a:t> </a:t>
            </a:r>
            <a:r>
              <a:rPr lang="en-US" dirty="0">
                <a:hlinkClick r:id="rId3" tooltip="States and territories of India"/>
              </a:rPr>
              <a:t>state</a:t>
            </a:r>
            <a:r>
              <a:rPr lang="en-US" dirty="0"/>
              <a:t> of </a:t>
            </a:r>
            <a:r>
              <a:rPr lang="en-US" dirty="0">
                <a:hlinkClick r:id="rId4" tooltip="West Bengal"/>
              </a:rPr>
              <a:t>West Bengal</a:t>
            </a:r>
            <a:r>
              <a:rPr lang="en-US" dirty="0"/>
              <a:t>. It is located at an average elevation of 1,250 </a:t>
            </a:r>
            <a:r>
              <a:rPr lang="en-US" dirty="0" err="1"/>
              <a:t>metres</a:t>
            </a:r>
            <a:r>
              <a:rPr lang="en-US" dirty="0"/>
              <a:t> (4,101 ft).</a:t>
            </a:r>
            <a:r>
              <a:rPr lang="en-US" baseline="30000" dirty="0">
                <a:hlinkClick r:id="rId5"/>
              </a:rPr>
              <a:t>[4]</a:t>
            </a:r>
            <a:r>
              <a:rPr lang="en-US" dirty="0"/>
              <a:t> The town is the headquarters of the </a:t>
            </a:r>
            <a:r>
              <a:rPr lang="en-US" dirty="0" err="1">
                <a:hlinkClick r:id="rId6" tooltip="Kalimpong district"/>
              </a:rPr>
              <a:t>Kalimpong</a:t>
            </a:r>
            <a:r>
              <a:rPr lang="en-US" dirty="0">
                <a:hlinkClick r:id="rId6" tooltip="Kalimpong district"/>
              </a:rPr>
              <a:t> district</a:t>
            </a:r>
            <a:r>
              <a:rPr lang="en-US" dirty="0"/>
              <a:t>.</a:t>
            </a:r>
            <a:r>
              <a:rPr lang="en-US" baseline="30000" dirty="0">
                <a:hlinkClick r:id="rId7"/>
              </a:rPr>
              <a:t>[5]</a:t>
            </a:r>
            <a:r>
              <a:rPr lang="en-US" dirty="0"/>
              <a:t> The region comes under </a:t>
            </a:r>
            <a:r>
              <a:rPr lang="en-US" dirty="0" err="1">
                <a:hlinkClick r:id="rId8" tooltip="Gorkhaland Territorial Administration"/>
              </a:rPr>
              <a:t>Gorkhaland</a:t>
            </a:r>
            <a:r>
              <a:rPr lang="en-US" dirty="0">
                <a:hlinkClick r:id="rId8" tooltip="Gorkhaland Territorial Administration"/>
              </a:rPr>
              <a:t> Territorial Administration</a:t>
            </a:r>
            <a:r>
              <a:rPr lang="en-US" dirty="0"/>
              <a:t> which is an autonomous governing body within the state of </a:t>
            </a:r>
            <a:r>
              <a:rPr lang="en-US" dirty="0">
                <a:hlinkClick r:id="rId4" tooltip="West Bengal"/>
              </a:rPr>
              <a:t>West Bengal</a:t>
            </a:r>
            <a:r>
              <a:rPr lang="en-US" dirty="0"/>
              <a:t>. The </a:t>
            </a:r>
            <a:r>
              <a:rPr lang="en-US" dirty="0">
                <a:hlinkClick r:id="rId9" tooltip="Indian Army"/>
              </a:rPr>
              <a:t>Indian Army</a:t>
            </a:r>
            <a:r>
              <a:rPr lang="en-US" dirty="0"/>
              <a:t>'s 27 Mountain Division is located on the outskirts of the city.</a:t>
            </a:r>
            <a:r>
              <a:rPr lang="en-US" baseline="30000" dirty="0">
                <a:hlinkClick r:id="rId10"/>
              </a:rPr>
              <a:t>[6]</a:t>
            </a:r>
            <a:r>
              <a:rPr lang="en-US" dirty="0"/>
              <a:t> </a:t>
            </a:r>
          </a:p>
          <a:p>
            <a:pPr marL="0" indent="0">
              <a:buNone/>
            </a:pPr>
            <a:endParaRPr lang="en-IN" dirty="0"/>
          </a:p>
        </p:txBody>
      </p:sp>
      <p:pic>
        <p:nvPicPr>
          <p:cNvPr id="5" name="Picture 4">
            <a:extLst>
              <a:ext uri="{FF2B5EF4-FFF2-40B4-BE49-F238E27FC236}">
                <a16:creationId xmlns:a16="http://schemas.microsoft.com/office/drawing/2014/main" id="{3D74497D-5650-4655-B3C1-E802FB927A6D}"/>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2556588" y="4407174"/>
            <a:ext cx="6424904" cy="2304661"/>
          </a:xfrm>
          <a:prstGeom prst="rect">
            <a:avLst/>
          </a:prstGeom>
        </p:spPr>
      </p:pic>
      <p:sp>
        <p:nvSpPr>
          <p:cNvPr id="6" name="TextBox 5">
            <a:extLst>
              <a:ext uri="{FF2B5EF4-FFF2-40B4-BE49-F238E27FC236}">
                <a16:creationId xmlns:a16="http://schemas.microsoft.com/office/drawing/2014/main" id="{C76B519C-B92C-496A-8912-6BB24AC335AB}"/>
              </a:ext>
            </a:extLst>
          </p:cNvPr>
          <p:cNvSpPr txBox="1"/>
          <p:nvPr/>
        </p:nvSpPr>
        <p:spPr>
          <a:xfrm>
            <a:off x="2556588" y="6711836"/>
            <a:ext cx="6424904" cy="230832"/>
          </a:xfrm>
          <a:prstGeom prst="rect">
            <a:avLst/>
          </a:prstGeom>
          <a:noFill/>
        </p:spPr>
        <p:txBody>
          <a:bodyPr wrap="square" rtlCol="0">
            <a:spAutoFit/>
          </a:bodyPr>
          <a:lstStyle/>
          <a:p>
            <a:r>
              <a:rPr lang="en-IN" sz="900">
                <a:hlinkClick r:id="rId12" tooltip="http://letusgoto.com/2020/07/13/top-10-places-to-explore-for-digital-nomads-in-india/"/>
              </a:rPr>
              <a:t>This Photo</a:t>
            </a:r>
            <a:r>
              <a:rPr lang="en-IN" sz="900"/>
              <a:t> by Unknown Author is licensed under </a:t>
            </a:r>
            <a:r>
              <a:rPr lang="en-IN" sz="900">
                <a:hlinkClick r:id="rId13" tooltip="https://creativecommons.org/licenses/by-nc/3.0/"/>
              </a:rPr>
              <a:t>CC BY-NC</a:t>
            </a:r>
            <a:endParaRPr lang="en-IN" sz="900"/>
          </a:p>
        </p:txBody>
      </p:sp>
    </p:spTree>
    <p:extLst>
      <p:ext uri="{BB962C8B-B14F-4D97-AF65-F5344CB8AC3E}">
        <p14:creationId xmlns:p14="http://schemas.microsoft.com/office/powerpoint/2010/main" val="3660988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1FBAF-F4B4-4AA1-A353-EA741379D935}"/>
              </a:ext>
            </a:extLst>
          </p:cNvPr>
          <p:cNvSpPr>
            <a:spLocks noGrp="1"/>
          </p:cNvSpPr>
          <p:nvPr>
            <p:ph type="title"/>
          </p:nvPr>
        </p:nvSpPr>
        <p:spPr/>
        <p:txBody>
          <a:bodyPr/>
          <a:lstStyle/>
          <a:p>
            <a:r>
              <a:rPr lang="en-US" dirty="0"/>
              <a:t>                            </a:t>
            </a:r>
            <a:r>
              <a:rPr lang="en-US" dirty="0" err="1"/>
              <a:t>Ghoom</a:t>
            </a:r>
            <a:endParaRPr lang="en-IN" dirty="0"/>
          </a:p>
        </p:txBody>
      </p:sp>
      <p:sp>
        <p:nvSpPr>
          <p:cNvPr id="3" name="Content Placeholder 2">
            <a:extLst>
              <a:ext uri="{FF2B5EF4-FFF2-40B4-BE49-F238E27FC236}">
                <a16:creationId xmlns:a16="http://schemas.microsoft.com/office/drawing/2014/main" id="{04BEEB0F-9B45-4221-85F2-A8DF1F570C04}"/>
              </a:ext>
            </a:extLst>
          </p:cNvPr>
          <p:cNvSpPr>
            <a:spLocks noGrp="1"/>
          </p:cNvSpPr>
          <p:nvPr>
            <p:ph idx="1"/>
          </p:nvPr>
        </p:nvSpPr>
        <p:spPr>
          <a:xfrm>
            <a:off x="790526" y="2351573"/>
            <a:ext cx="10610948" cy="3416300"/>
          </a:xfrm>
        </p:spPr>
        <p:txBody>
          <a:bodyPr/>
          <a:lstStyle/>
          <a:p>
            <a:pPr marL="0" indent="0">
              <a:buNone/>
            </a:pPr>
            <a:r>
              <a:rPr lang="en-US" b="1" dirty="0" err="1"/>
              <a:t>Ghum</a:t>
            </a:r>
            <a:r>
              <a:rPr lang="en-US" dirty="0"/>
              <a:t> (also spelt </a:t>
            </a:r>
            <a:r>
              <a:rPr lang="en-US" b="1" dirty="0" err="1"/>
              <a:t>Ghoom</a:t>
            </a:r>
            <a:r>
              <a:rPr lang="en-US" dirty="0"/>
              <a:t>) is a small hilly </a:t>
            </a:r>
            <a:r>
              <a:rPr lang="en-US" dirty="0" err="1">
                <a:hlinkClick r:id="rId2" tooltip="Neighbourhood"/>
              </a:rPr>
              <a:t>neighbourhood</a:t>
            </a:r>
            <a:r>
              <a:rPr lang="en-US" dirty="0"/>
              <a:t> in the </a:t>
            </a:r>
            <a:r>
              <a:rPr lang="en-US" dirty="0">
                <a:hlinkClick r:id="rId3" tooltip="Darjeeling Himalayan hill region"/>
              </a:rPr>
              <a:t>Darjeeling Himalayan hill region</a:t>
            </a:r>
            <a:r>
              <a:rPr lang="en-US" dirty="0"/>
              <a:t> of </a:t>
            </a:r>
            <a:r>
              <a:rPr lang="en-US" dirty="0">
                <a:hlinkClick r:id="rId4" tooltip="West Bengal"/>
              </a:rPr>
              <a:t>West Bengal</a:t>
            </a:r>
            <a:r>
              <a:rPr lang="en-US" dirty="0"/>
              <a:t>, India. It comes under ward number one of the </a:t>
            </a:r>
            <a:r>
              <a:rPr lang="en-US" dirty="0">
                <a:hlinkClick r:id="rId5" tooltip="Darjeeling Municipality"/>
              </a:rPr>
              <a:t>Darjeeling Municipality</a:t>
            </a:r>
            <a:r>
              <a:rPr lang="en-US" dirty="0"/>
              <a:t>. </a:t>
            </a:r>
            <a:r>
              <a:rPr lang="en-US" dirty="0" err="1">
                <a:hlinkClick r:id="rId6" tooltip="Ghum railway station"/>
              </a:rPr>
              <a:t>Ghum</a:t>
            </a:r>
            <a:r>
              <a:rPr lang="en-US" dirty="0">
                <a:hlinkClick r:id="rId6" tooltip="Ghum railway station"/>
              </a:rPr>
              <a:t> railway station</a:t>
            </a:r>
            <a:r>
              <a:rPr lang="en-US" dirty="0"/>
              <a:t> of the </a:t>
            </a:r>
            <a:r>
              <a:rPr lang="en-US" dirty="0">
                <a:hlinkClick r:id="rId7" tooltip="Darjeeling Himalayan Railway"/>
              </a:rPr>
              <a:t>Darjeeling Himalayan Railway</a:t>
            </a:r>
            <a:r>
              <a:rPr lang="en-US" dirty="0"/>
              <a:t> is the highest railway station in India. It is situated at an altitude of 2,258 </a:t>
            </a:r>
            <a:r>
              <a:rPr lang="en-US" dirty="0" err="1"/>
              <a:t>metres</a:t>
            </a:r>
            <a:r>
              <a:rPr lang="en-US" dirty="0"/>
              <a:t> (7,407 ft).</a:t>
            </a:r>
            <a:r>
              <a:rPr lang="en-US" baseline="30000" dirty="0">
                <a:hlinkClick r:id="rId8"/>
              </a:rPr>
              <a:t>[1]</a:t>
            </a:r>
            <a:r>
              <a:rPr lang="en-US" dirty="0"/>
              <a:t> The place is the home of the </a:t>
            </a:r>
            <a:r>
              <a:rPr lang="en-US" dirty="0" err="1">
                <a:hlinkClick r:id="rId9" tooltip="Ghum Monastery"/>
              </a:rPr>
              <a:t>Ghum</a:t>
            </a:r>
            <a:r>
              <a:rPr lang="en-US" dirty="0">
                <a:hlinkClick r:id="rId9" tooltip="Ghum Monastery"/>
              </a:rPr>
              <a:t> Monastery</a:t>
            </a:r>
            <a:r>
              <a:rPr lang="en-US" dirty="0"/>
              <a:t> and the </a:t>
            </a:r>
            <a:r>
              <a:rPr lang="en-US" dirty="0" err="1">
                <a:hlinkClick r:id="rId10" tooltip="Batasia Loop"/>
              </a:rPr>
              <a:t>Batasia</a:t>
            </a:r>
            <a:r>
              <a:rPr lang="en-US" dirty="0">
                <a:hlinkClick r:id="rId10" tooltip="Batasia Loop"/>
              </a:rPr>
              <a:t> Loop</a:t>
            </a:r>
            <a:r>
              <a:rPr lang="en-US" dirty="0"/>
              <a:t>, a bend of the </a:t>
            </a:r>
            <a:r>
              <a:rPr lang="en-US" dirty="0">
                <a:hlinkClick r:id="rId7" tooltip="Darjeeling Himalayan Railway"/>
              </a:rPr>
              <a:t>Darjeeling Himalayan Railway</a:t>
            </a:r>
            <a:r>
              <a:rPr lang="en-US" dirty="0"/>
              <a:t>. </a:t>
            </a:r>
            <a:endParaRPr lang="en-IN" dirty="0"/>
          </a:p>
        </p:txBody>
      </p:sp>
      <p:pic>
        <p:nvPicPr>
          <p:cNvPr id="5" name="Picture 4">
            <a:extLst>
              <a:ext uri="{FF2B5EF4-FFF2-40B4-BE49-F238E27FC236}">
                <a16:creationId xmlns:a16="http://schemas.microsoft.com/office/drawing/2014/main" id="{CCE04EE5-EB74-416C-8B68-61EFDF72E1A6}"/>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2663482" y="3859145"/>
            <a:ext cx="6489850" cy="2739879"/>
          </a:xfrm>
          <a:prstGeom prst="rect">
            <a:avLst/>
          </a:prstGeom>
        </p:spPr>
      </p:pic>
      <p:sp>
        <p:nvSpPr>
          <p:cNvPr id="6" name="TextBox 5">
            <a:extLst>
              <a:ext uri="{FF2B5EF4-FFF2-40B4-BE49-F238E27FC236}">
                <a16:creationId xmlns:a16="http://schemas.microsoft.com/office/drawing/2014/main" id="{242B61C6-3AF0-4822-B652-424ECDFC4968}"/>
              </a:ext>
            </a:extLst>
          </p:cNvPr>
          <p:cNvSpPr txBox="1"/>
          <p:nvPr/>
        </p:nvSpPr>
        <p:spPr>
          <a:xfrm>
            <a:off x="4021495" y="6928581"/>
            <a:ext cx="4670273" cy="230832"/>
          </a:xfrm>
          <a:prstGeom prst="rect">
            <a:avLst/>
          </a:prstGeom>
          <a:noFill/>
        </p:spPr>
        <p:txBody>
          <a:bodyPr wrap="square" rtlCol="0">
            <a:spAutoFit/>
          </a:bodyPr>
          <a:lstStyle/>
          <a:p>
            <a:r>
              <a:rPr lang="en-IN" sz="900">
                <a:hlinkClick r:id="rId12" tooltip="https://en.wikipedia.org/wiki/Ghum,_West_Bengal"/>
              </a:rPr>
              <a:t>This Photo</a:t>
            </a:r>
            <a:r>
              <a:rPr lang="en-IN" sz="900"/>
              <a:t> by Unknown Author is licensed under </a:t>
            </a:r>
            <a:r>
              <a:rPr lang="en-IN" sz="900">
                <a:hlinkClick r:id="rId13" tooltip="https://creativecommons.org/licenses/by-sa/3.0/"/>
              </a:rPr>
              <a:t>CC BY-SA</a:t>
            </a:r>
            <a:endParaRPr lang="en-IN" sz="900"/>
          </a:p>
        </p:txBody>
      </p:sp>
    </p:spTree>
    <p:extLst>
      <p:ext uri="{BB962C8B-B14F-4D97-AF65-F5344CB8AC3E}">
        <p14:creationId xmlns:p14="http://schemas.microsoft.com/office/powerpoint/2010/main" val="71716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FACD40-8860-4E40-80DD-82DA5A2FD9F6}"/>
              </a:ext>
            </a:extLst>
          </p:cNvPr>
          <p:cNvSpPr txBox="1"/>
          <p:nvPr/>
        </p:nvSpPr>
        <p:spPr>
          <a:xfrm>
            <a:off x="3069771" y="2648549"/>
            <a:ext cx="6242180" cy="1200329"/>
          </a:xfrm>
          <a:prstGeom prst="rect">
            <a:avLst/>
          </a:prstGeom>
          <a:noFill/>
        </p:spPr>
        <p:txBody>
          <a:bodyPr wrap="square" rtlCol="0">
            <a:spAutoFit/>
          </a:bodyPr>
          <a:lstStyle/>
          <a:p>
            <a:r>
              <a:rPr lang="en-US" sz="7200" dirty="0">
                <a:latin typeface="Algerian" panose="04020705040A02060702" pitchFamily="82" charset="0"/>
              </a:rPr>
              <a:t>Thank   You</a:t>
            </a:r>
            <a:endParaRPr lang="en-IN" sz="7200" dirty="0">
              <a:latin typeface="Algerian" panose="04020705040A02060702" pitchFamily="82" charset="0"/>
            </a:endParaRPr>
          </a:p>
        </p:txBody>
      </p:sp>
    </p:spTree>
    <p:extLst>
      <p:ext uri="{BB962C8B-B14F-4D97-AF65-F5344CB8AC3E}">
        <p14:creationId xmlns:p14="http://schemas.microsoft.com/office/powerpoint/2010/main" val="28196210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50</TotalTime>
  <Words>667</Words>
  <Application>Microsoft Office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Algerian</vt:lpstr>
      <vt:lpstr>Arial</vt:lpstr>
      <vt:lpstr>Bahnschrift Condensed</vt:lpstr>
      <vt:lpstr>Century Gothic</vt:lpstr>
      <vt:lpstr>Wingdings 3</vt:lpstr>
      <vt:lpstr>Ion Boardroom</vt:lpstr>
      <vt:lpstr>PowerPoint Presentation</vt:lpstr>
      <vt:lpstr>Top 5 places in Darjeeling</vt:lpstr>
      <vt:lpstr>                           Tiger Hill</vt:lpstr>
      <vt:lpstr>                     Peace Pagoda</vt:lpstr>
      <vt:lpstr>             Happy Valley Tea Estate</vt:lpstr>
      <vt:lpstr>                        Kalimpong</vt:lpstr>
      <vt:lpstr>                            Ghoom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DEVLEENA DAS</dc:creator>
  <cp:lastModifiedBy>DEVLEENA DAS</cp:lastModifiedBy>
  <cp:revision>1</cp:revision>
  <dcterms:created xsi:type="dcterms:W3CDTF">2022-01-12T05:36:21Z</dcterms:created>
  <dcterms:modified xsi:type="dcterms:W3CDTF">2022-01-12T06:26:39Z</dcterms:modified>
</cp:coreProperties>
</file>